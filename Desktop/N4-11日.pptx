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A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/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/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9" name="Freeform: Shape 8"/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/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8" name="Freeform: Shape 7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10" name="Freeform: Shape 9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6" name="Freeform: Shape 5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5" name="Freeform: Shape 4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8" name="Freeform: Shape 7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8" name="Freeform: Shape 7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/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白色背景上的彩色心形纸"/>
          <p:cNvPicPr>
            <a:picLocks noChangeAspect="1"/>
          </p:cNvPicPr>
          <p:nvPr/>
        </p:nvPicPr>
        <p:blipFill rotWithShape="1">
          <a:blip r:embed="rId1">
            <a:alphaModFix amt="55000"/>
          </a:blip>
          <a:srcRect t="6274" b="945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4" name="Oval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>
            <a:normAutofit/>
          </a:bodyPr>
          <a:lstStyle/>
          <a:p>
            <a:r>
              <a:rPr lang="en-US"/>
              <a:t>N4</a:t>
            </a:r>
            <a:r>
              <a:rPr lang="ja-JP" altLang="en-US"/>
              <a:t>（</a:t>
            </a:r>
            <a:r>
              <a:rPr lang="en-US" altLang="ja-JP"/>
              <a:t>11</a:t>
            </a:r>
            <a:r>
              <a:rPr lang="ja-JP" altLang="en-US"/>
              <a:t>日）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7192" y="4106918"/>
            <a:ext cx="5037616" cy="1655762"/>
          </a:xfrm>
        </p:spPr>
        <p:txBody>
          <a:bodyPr>
            <a:normAutofit/>
          </a:bodyPr>
          <a:lstStyle/>
          <a:p>
            <a:r>
              <a:rPr lang="ja-JP" altLang="en-US" dirty="0"/>
              <a:t>ひかく／</a:t>
            </a:r>
            <a:endParaRPr lang="en-US" altLang="ja-JP"/>
          </a:p>
          <a:p>
            <a:r>
              <a:rPr lang="ja-JP" altLang="en-US" dirty="0"/>
              <a:t>めいれい・きんし</a:t>
            </a:r>
            <a:endParaRPr lang="en-US"/>
          </a:p>
        </p:txBody>
      </p:sp>
      <p:sp>
        <p:nvSpPr>
          <p:cNvPr id="36" name="Arc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789"/>
            <a:ext cx="10515600" cy="1325563"/>
          </a:xfrm>
        </p:spPr>
        <p:txBody>
          <a:bodyPr/>
          <a:lstStyle/>
          <a:p>
            <a:pPr algn="ctr"/>
            <a:r>
              <a:rPr lang="ja-JP" altLang="en-US" dirty="0"/>
              <a:t>ひかく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3829051" y="1671627"/>
            <a:ext cx="4514850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と</a:t>
            </a:r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と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どちら（が）～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4443412" y="2965440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より</a:t>
            </a:r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のほうが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～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4443411" y="4346300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は</a:t>
            </a:r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より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～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4443411" y="5640113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は</a:t>
            </a:r>
            <a:r>
              <a:rPr lang="en-US" altLang="ja-JP" sz="2800" dirty="0">
                <a:solidFill>
                  <a:schemeClr val="tx1"/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ほど</a:t>
            </a:r>
            <a:r>
              <a:rPr lang="ja-JP" altLang="en-US" sz="2800" dirty="0">
                <a:solidFill>
                  <a:schemeClr val="tx1"/>
                </a:solidFill>
              </a:rPr>
              <a:t>～ない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787" y="2197100"/>
            <a:ext cx="10515600" cy="385974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れい：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犬とねこと　どちらが　すきですか。</a:t>
            </a:r>
            <a:endParaRPr lang="en-US" altLang="ja-JP" dirty="0"/>
          </a:p>
          <a:p>
            <a:endParaRPr lang="en-US" dirty="0"/>
          </a:p>
          <a:p>
            <a:r>
              <a:rPr lang="ja-JP" altLang="en-US" dirty="0"/>
              <a:t>コーヒーと　紅茶と　どちらに　しますか。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4317206" y="199231"/>
            <a:ext cx="4169569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と</a:t>
            </a:r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と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どちら（が）～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れい：</a:t>
            </a:r>
            <a:endParaRPr lang="en-US" altLang="ja-JP" dirty="0"/>
          </a:p>
          <a:p>
            <a:pPr marL="0" indent="0">
              <a:buNone/>
            </a:pPr>
            <a:endParaRPr lang="en-US" dirty="0"/>
          </a:p>
          <a:p>
            <a:r>
              <a:rPr lang="ja-JP" altLang="en-US" dirty="0"/>
              <a:t>このパソコンより　あのパソコンのほうが　いいと思います。</a:t>
            </a:r>
            <a:endParaRPr lang="en-US" altLang="ja-JP" dirty="0"/>
          </a:p>
          <a:p>
            <a:endParaRPr lang="en-US" dirty="0"/>
          </a:p>
          <a:p>
            <a:r>
              <a:rPr lang="ja-JP" altLang="en-US" dirty="0"/>
              <a:t>赤より　黄色のほうが　あなたに合います。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4200525" y="515144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より</a:t>
            </a:r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のほうが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～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例：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家族は　お金より大切です。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このスーパーは駅前のスーパーよりずっと安いです。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4317206" y="365125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は</a:t>
            </a:r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より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～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778667" y="299773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ja-JP" altLang="en-US" sz="2800" dirty="0">
                <a:solidFill>
                  <a:srgbClr val="FF0000"/>
                </a:solidFill>
              </a:rPr>
              <a:t>は</a:t>
            </a:r>
            <a:r>
              <a:rPr lang="en-US" altLang="ja-JP" sz="2800" dirty="0">
                <a:solidFill>
                  <a:schemeClr val="tx1"/>
                </a:solidFill>
              </a:rPr>
              <a:t>B</a:t>
            </a:r>
            <a:r>
              <a:rPr lang="ja-JP" altLang="en-US" sz="2800" dirty="0">
                <a:solidFill>
                  <a:srgbClr val="FF0000"/>
                </a:solidFill>
              </a:rPr>
              <a:t>ほど</a:t>
            </a:r>
            <a:r>
              <a:rPr lang="ja-JP" altLang="en-US" sz="2800" dirty="0">
                <a:solidFill>
                  <a:schemeClr val="tx1"/>
                </a:solidFill>
              </a:rPr>
              <a:t>～ない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30383" y="390944"/>
            <a:ext cx="585073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ja-JP" altLang="en-US" dirty="0"/>
              <a:t>例：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私の国は日本ほど寒くないです。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今日のテストは先週のテスト</a:t>
            </a:r>
            <a:r>
              <a:rPr lang="ja-JP" altLang="en-US" dirty="0"/>
              <a:t>ほどむずかしくなかったです。</a:t>
            </a:r>
            <a:endParaRPr lang="en-US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4317206" y="346710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めいれいけい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5" descr="Calendar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44" y="1220232"/>
            <a:ext cx="9086850" cy="5111352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5613"/>
            <a:ext cx="10515600" cy="385974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ja-JP" altLang="en-US" dirty="0"/>
              <a:t>行きます　☛　行くな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食べます　☛　食べるな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します　　☛　するな　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4317206" y="330200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きんしけい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5943600" y="2657474"/>
            <a:ext cx="4514850" cy="10001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UD Digi Kyokasho NK-B" panose="02020700000000000000" pitchFamily="18" charset="-128"/>
                <a:ea typeface="UD Digi Kyokasho NK-B" panose="02020700000000000000" pitchFamily="18" charset="-128"/>
              </a:rPr>
              <a:t>V</a:t>
            </a:r>
            <a:r>
              <a:rPr lang="ja-JP" altLang="en-US" sz="3200" b="1" dirty="0">
                <a:solidFill>
                  <a:srgbClr val="FF0000"/>
                </a:solidFill>
                <a:latin typeface="UD Digi Kyokasho NK-B" panose="02020700000000000000" pitchFamily="18" charset="-128"/>
                <a:ea typeface="UD Digi Kyokasho NK-B" panose="02020700000000000000" pitchFamily="18" charset="-128"/>
              </a:rPr>
              <a:t>ます　☛　</a:t>
            </a:r>
            <a:r>
              <a:rPr lang="en-US" altLang="ja-JP" sz="3200" b="1" dirty="0">
                <a:solidFill>
                  <a:srgbClr val="FF0000"/>
                </a:solidFill>
                <a:latin typeface="UD Digi Kyokasho NK-B" panose="02020700000000000000" pitchFamily="18" charset="-128"/>
                <a:ea typeface="UD Digi Kyokasho NK-B" panose="02020700000000000000" pitchFamily="18" charset="-128"/>
              </a:rPr>
              <a:t>V</a:t>
            </a:r>
            <a:r>
              <a:rPr lang="ja-JP" altLang="en-US" sz="3200" b="1" dirty="0">
                <a:solidFill>
                  <a:srgbClr val="FF0000"/>
                </a:solidFill>
                <a:latin typeface="UD Digi Kyokasho NK-B" panose="02020700000000000000" pitchFamily="18" charset="-128"/>
                <a:ea typeface="UD Digi Kyokasho NK-B" panose="02020700000000000000" pitchFamily="18" charset="-128"/>
              </a:rPr>
              <a:t>る＋な</a:t>
            </a:r>
            <a:endParaRPr lang="en-US" sz="3200" b="1" dirty="0">
              <a:solidFill>
                <a:srgbClr val="FF0000"/>
              </a:solidFill>
              <a:latin typeface="UD Digi Kyokasho NK-B" panose="02020700000000000000" pitchFamily="18" charset="-128"/>
              <a:ea typeface="UD Digi Kyokasho NK-B" panose="02020700000000000000" pitchFamily="1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4317206" y="330200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V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ます＋なさい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990600" y="1978025"/>
            <a:ext cx="10515600" cy="3859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ja-JP" altLang="en-US" dirty="0"/>
              <a:t>例：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早く起きなさい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野菜をたくさん食べなさい。</a:t>
            </a:r>
            <a:endParaRPr lang="en-US" altLang="ja-JP" dirty="0"/>
          </a:p>
        </p:txBody>
      </p:sp>
      <p:sp>
        <p:nvSpPr>
          <p:cNvPr id="6" name="TextBox 5"/>
          <p:cNvSpPr txBox="1"/>
          <p:nvPr/>
        </p:nvSpPr>
        <p:spPr>
          <a:xfrm>
            <a:off x="3458771" y="1331694"/>
            <a:ext cx="585073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HÃY….(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例：</a:t>
            </a:r>
            <a:endParaRPr lang="en-US" altLang="ja-JP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ja-JP" altLang="en-US" dirty="0"/>
              <a:t>父に夏休みに国に帰るように言われています。</a:t>
            </a:r>
            <a:endParaRPr lang="en-US" altLang="ja-JP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ja-JP" altLang="en-US" dirty="0"/>
              <a:t>山田さんに明日早く会社に来るように言ってください。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4317206" y="330200"/>
            <a:ext cx="3557587" cy="8286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bg2">
                    <a:lumMod val="10000"/>
                  </a:schemeClr>
                </a:solidFill>
              </a:rPr>
              <a:t>V</a:t>
            </a:r>
            <a:r>
              <a:rPr lang="ja-JP" altLang="en-US" sz="2800" dirty="0">
                <a:solidFill>
                  <a:schemeClr val="bg2">
                    <a:lumMod val="10000"/>
                  </a:schemeClr>
                </a:solidFill>
              </a:rPr>
              <a:t>る＋ように言う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61920" y="162306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b="1">
                <a:latin typeface="UD Digi Kyokasho N-R" panose="02020400000000000000" charset="-128"/>
                <a:ea typeface="UD Digi Kyokasho N-R" panose="02020400000000000000" charset="-128"/>
              </a:rPr>
              <a:t>Hãy nói ... / Hãy khuyên .... (Mệnh lệnh, chỉ thị có tính chất gián tiếp )  </a:t>
            </a:r>
            <a:endParaRPr lang="vi-VN" b="1">
              <a:latin typeface="UD Digi Kyokasho N-R" panose="02020400000000000000" charset="-128"/>
              <a:ea typeface="UD Digi Kyokasho N-R" panose="0202040000000000000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 build="p"/>
    </p:bldLst>
  </p:timing>
</p:sld>
</file>

<file path=ppt/theme/theme1.xml><?xml version="1.0" encoding="utf-8"?>
<a:theme xmlns:a="http://schemas.openxmlformats.org/drawingml/2006/main" name="ShapesVTI">
  <a:themeElements>
    <a:clrScheme name="SketchyVTI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WPS Presentation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Times New Roman</vt:lpstr>
      <vt:lpstr>UD Digi Kyokasho NK-B</vt:lpstr>
      <vt:lpstr>Century Gothic</vt:lpstr>
      <vt:lpstr>MS PGothic</vt:lpstr>
      <vt:lpstr>Microsoft YaHei</vt:lpstr>
      <vt:lpstr>Arial Unicode MS</vt:lpstr>
      <vt:lpstr>UD Digi Kyokasho NP-B</vt:lpstr>
      <vt:lpstr>UD Digi Kyokasho N-R</vt:lpstr>
      <vt:lpstr>ShapesVTI</vt:lpstr>
      <vt:lpstr>N4（11日）</vt:lpstr>
      <vt:lpstr>ひかく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N4（11日）</dc:title>
  <dc:creator>Ngo Thi Huyen Trang- DHNN</dc:creator>
  <cp:lastModifiedBy>nguyen.d.p.thao</cp:lastModifiedBy>
  <cp:revision>4</cp:revision>
  <dcterms:created xsi:type="dcterms:W3CDTF">2021-05-28T01:20:00Z</dcterms:created>
  <dcterms:modified xsi:type="dcterms:W3CDTF">2021-06-02T09:39:22Z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1033-11.2.0.10132</vt:lpwstr>
  </property>
</Properties>
</file>